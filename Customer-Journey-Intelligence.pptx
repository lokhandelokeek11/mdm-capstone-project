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ira Mono Medium"/>
      <p:regular r:id="rId201314"/>
    </p:embeddedFont>
    <p:embeddedFont>
      <p:font typeface="Fira Mono Bold"/>
      <p:regular r:id="rId201315"/>
    </p:embeddedFont>
    <p:embeddedFont>
      <p:font typeface="Fira Mono"/>
      <p:regular r:id="rId201316"/>
    </p:embeddedFont>
    <p:embeddedFont>
      <p:font typeface="Schibsted Grotesk"/>
      <p:regular r:id="rId201317"/>
    </p:embeddedFont>
    <p:embeddedFont>
      <p:font typeface="Schibsted Grotesk Medium"/>
      <p:regular r:id="rId201318"/>
    </p:embeddedFont>
    <p:embeddedFont>
      <p:font typeface="Schibsted Grotesk SemiBold"/>
      <p:regular r:id="rId201319"/>
    </p:embeddedFont>
    <p:embeddedFont>
      <p:font typeface="Schibsted Grotesk Bold"/>
      <p:regular r:id="rId201320"/>
    </p:embeddedFont>
    <p:embeddedFont>
      <p:font typeface="Schibsted Grotesk Extra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green → purple → orange in ~45 seconds. ML training is Python batch and the website reads saved results through the API. Hosting names are deployment targets and the same layers run locally with PostgreSQL + React +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B2E"/>
          </a:solidFill>
          <a:ln/>
        </p:spPr>
      </p:sp>
      <p:pic>
        <p:nvPicPr>
          <p:cNvPr id="5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72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1692573"/>
            <a:ext cx="1170910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WEB APP · PYTHON ML · RETAILROCKET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2588" y="1986558"/>
            <a:ext cx="1122651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spc="-144" kern="100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Customer Journey</a:t>
            </a:r>
            <a:endParaRPr lang="en-US" sz="72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7200" spc="-144" kern="100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Intelligence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482588" y="4126905"/>
            <a:ext cx="2806630" cy="50701"/>
          </a:xfrm>
          <a:prstGeom prst="roundRect">
            <a:avLst>
              <a:gd name="adj" fmla="val 49999"/>
            </a:avLst>
          </a:prstGeom>
          <a:solidFill>
            <a:srgbClr val="C5E35A"/>
          </a:solidFill>
          <a:ln/>
        </p:spPr>
      </p:sp>
      <p:sp>
        <p:nvSpPr>
          <p:cNvPr id="5" name="Text 3"/>
          <p:cNvSpPr/>
          <p:nvPr/>
        </p:nvSpPr>
        <p:spPr>
          <a:xfrm>
            <a:off x="482588" y="4411067"/>
            <a:ext cx="11226519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Smart marketing from online shopping clicks, built as a web app with Python ML on RetailRocket data.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157188"/>
            <a:ext cx="619238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1451173"/>
            <a:ext cx="5735196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66" kern="100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Clicks become useful when they lead to an action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189" y="3463627"/>
            <a:ext cx="1433675" cy="50701"/>
          </a:xfrm>
          <a:prstGeom prst="roundRect">
            <a:avLst>
              <a:gd name="adj" fmla="val 49999"/>
            </a:avLst>
          </a:prstGeom>
          <a:solidFill>
            <a:srgbClr val="C5E35A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3747790"/>
            <a:ext cx="5735196" cy="1953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Too many clicks, not enough clarity on who to email and who to leave alone.</a:t>
            </a:r>
            <a:endParaRPr lang="en-US" sz="1800" dirty="0"/>
          </a:p>
          <a:p>
            <a:pPr algn="l" marL="365760" indent="-365760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Journey intelligence connects journeys to groups, predictions, and the next marketing action.</a:t>
            </a:r>
            <a:endParaRPr lang="en-US" sz="1800" dirty="0"/>
          </a:p>
          <a:p>
            <a:pPr algn="l" marL="365760" indent="-365760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Success means a working system backed by real numbers from the training run.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6663" y="0"/>
            <a:ext cx="5085032" cy="685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189" y="6526510"/>
            <a:ext cx="78966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366838"/>
            <a:ext cx="1127731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00" spc="-33" kern="100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Customer Journey Intelligence — System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189" y="1856978"/>
            <a:ext cx="1173450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From raw clicks to journeys, ML scores, and marketing actions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189" y="2343348"/>
            <a:ext cx="11734506" cy="13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2F8F5B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Green = Data</a:t>
            </a:r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(source, pipeline, journey processing) · </a:t>
            </a:r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C4A7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Purple = Intelligence</a:t>
            </a:r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(ML, NBMA, evaluation) · </a:t>
            </a:r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D97728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Orange = Application</a:t>
            </a:r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(API + dashboards) · </a:t>
            </a:r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C7CDD3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Grey = Users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189" y="2605683"/>
            <a:ext cx="6966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C5E35A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2895" y="2658269"/>
            <a:ext cx="3214806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Data source: RetailRocket (Kaggle) — events, item properties, category tree → PostgreSQL (raw, processed, results).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444889" y="2605683"/>
            <a:ext cx="74392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C5E35A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07822" y="2658269"/>
            <a:ext cx="2938984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Data pipeline (Python): ingest &amp; validate → standardise view / cart / purchase → sessionise (30 min gap).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203995" y="2605683"/>
            <a:ext cx="7450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C5E35A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68019" y="2658269"/>
            <a:ext cx="3166487" cy="37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Journey processing: per-customer timeline → features (recency, frequency, ratios) → journey stage (inactive → engagement → exploration → intent → conversion).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189" y="3433068"/>
            <a:ext cx="7492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C5E35A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5479" y="3485654"/>
            <a:ext cx="3162221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Machine learning: segmentation (rules, RFM, K-Means) | next-event (Markov vs GRU) | propensity (LR, RF, XGBoost).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444889" y="3433068"/>
            <a:ext cx="74729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C5E35A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11195" y="3485654"/>
            <a:ext cx="2935611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Decision layer: NBMA (email, reminder, discount, cross-sell, wait, suppress) + recommendations + SHAP / rules for “why this action”.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203995" y="3433068"/>
            <a:ext cx="7484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C5E35A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571492" y="3485654"/>
            <a:ext cx="3163015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Evaluation (offline): RQ1–RQ3 metrics (precision, recall, F1, ROC-AUC, PR-AUC) + RQ4 strategy simulation → results stored for the app.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189" y="4137025"/>
            <a:ext cx="73618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C5E35A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2383" y="4189611"/>
            <a:ext cx="3175317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API layer: REST services — journeys, segments, scores, NBMA (diagram: FastAPI / HTTPS JSON).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444889" y="4137025"/>
            <a:ext cx="7467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C5E35A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8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10600" y="4189611"/>
            <a:ext cx="2936206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Presentation layer: React dashboards — executive KPIs, funnel, segments, Customer 360 (timeline + stage + next action).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203995" y="4137025"/>
            <a:ext cx="7485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C5E35A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9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71591" y="4189611"/>
            <a:ext cx="3162915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Users: Admin (data/models) | Marketing analyst (explore) | Marketing manager (act on NBMA).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57189" y="4614267"/>
            <a:ext cx="1173450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spc="7" kern="100" dirty="0">
                <a:solidFill>
                  <a:srgbClr val="A8C4B7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Data flows top → bottom: store → clean → journey → ML → NBMA → evaluate → API → UI → users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552643" y="6526510"/>
            <a:ext cx="63905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66" kern="100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The test respects time and the rarity of purchase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189" y="1827411"/>
            <a:ext cx="400040" cy="400050"/>
          </a:xfrm>
          <a:prstGeom prst="ellipse">
            <a:avLst/>
          </a:prstGeom>
          <a:solidFill>
            <a:srgbClr val="C5E35A"/>
          </a:solidFill>
          <a:ln/>
        </p:spPr>
      </p:sp>
      <p:sp>
        <p:nvSpPr>
          <p:cNvPr id="4" name="Text 2"/>
          <p:cNvSpPr/>
          <p:nvPr/>
        </p:nvSpPr>
        <p:spPr>
          <a:xfrm>
            <a:off x="541721" y="1913136"/>
            <a:ext cx="8405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35024" y="1875036"/>
            <a:ext cx="1069948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2,756,101 events became 2,755,641 clean events after removing 460 duplicates.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189" y="3085009"/>
            <a:ext cx="400040" cy="400050"/>
          </a:xfrm>
          <a:prstGeom prst="ellipse">
            <a:avLst/>
          </a:prstGeom>
          <a:solidFill>
            <a:srgbClr val="C5E35A"/>
          </a:solidFill>
          <a:ln/>
        </p:spPr>
      </p:sp>
      <p:sp>
        <p:nvSpPr>
          <p:cNvPr id="7" name="Text 5"/>
          <p:cNvSpPr/>
          <p:nvPr/>
        </p:nvSpPr>
        <p:spPr>
          <a:xfrm>
            <a:off x="518901" y="3170734"/>
            <a:ext cx="886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35024" y="3132634"/>
            <a:ext cx="1069948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Cutoff time τ sits at the 80% point: features come before τ and labels after it.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189" y="4342606"/>
            <a:ext cx="400040" cy="400050"/>
          </a:xfrm>
          <a:prstGeom prst="ellipse">
            <a:avLst/>
          </a:prstGeom>
          <a:solidFill>
            <a:srgbClr val="C5E35A"/>
          </a:solidFill>
          <a:ln/>
        </p:spPr>
      </p:sp>
      <p:sp>
        <p:nvSpPr>
          <p:cNvPr id="10" name="Text 8"/>
          <p:cNvSpPr/>
          <p:nvPr/>
        </p:nvSpPr>
        <p:spPr>
          <a:xfrm>
            <a:off x="517710" y="4428331"/>
            <a:ext cx="88848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35024" y="4390231"/>
            <a:ext cx="1069948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35,000 customers split into 24,500 train, 3,500 validation, and 7,000 test.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189" y="5600303"/>
            <a:ext cx="400040" cy="400050"/>
          </a:xfrm>
          <a:prstGeom prst="ellipse">
            <a:avLst/>
          </a:prstGeom>
          <a:solidFill>
            <a:srgbClr val="C5E35A"/>
          </a:solidFill>
          <a:ln/>
        </p:spPr>
      </p:sp>
      <p:sp>
        <p:nvSpPr>
          <p:cNvPr id="13" name="Text 11"/>
          <p:cNvSpPr/>
          <p:nvPr/>
        </p:nvSpPr>
        <p:spPr>
          <a:xfrm>
            <a:off x="515726" y="5686028"/>
            <a:ext cx="8924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35024" y="5647928"/>
            <a:ext cx="1069948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Future purchase rate is only 0.07% in the cohort.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189" y="2850059"/>
            <a:ext cx="11277318" cy="1270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189" y="4107656"/>
            <a:ext cx="11277318" cy="1270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189" y="5365353"/>
            <a:ext cx="11277318" cy="12700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18" name="Text 16"/>
          <p:cNvSpPr/>
          <p:nvPr/>
        </p:nvSpPr>
        <p:spPr>
          <a:xfrm>
            <a:off x="11552048" y="6526510"/>
            <a:ext cx="63964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MODEL 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51185"/>
            <a:ext cx="11277318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54" kern="100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The system covers prediction, grouping, explanation, and action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1908076"/>
            <a:ext cx="571486" cy="571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2593876"/>
            <a:ext cx="541006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Next event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189" y="3132931"/>
            <a:ext cx="541006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Markov, Logistic Regression, Random Forest, XGBoost, and GRU.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2" y="1908076"/>
            <a:ext cx="571486" cy="571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24442" y="2593876"/>
            <a:ext cx="541006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Groups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6324442" y="3132931"/>
            <a:ext cx="541006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K-Means from K=3–8 plus rule-based segments.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4207272"/>
            <a:ext cx="571486" cy="571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189" y="4893072"/>
            <a:ext cx="541006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Buy chance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457189" y="5432127"/>
            <a:ext cx="541006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Static versus journey-aware features, evaluated with PR-AUC.</a:t>
            </a:r>
            <a:endParaRPr lang="en-US" sz="1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4207272"/>
            <a:ext cx="571486" cy="571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24442" y="4893072"/>
            <a:ext cx="541006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Decision layer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6324442" y="5432127"/>
            <a:ext cx="5410065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SHAP explanations, recommendations, churn score; NBMA actions: email, reminder, discount, wait, or stop marketing.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6089498" y="1908076"/>
            <a:ext cx="12700" cy="2070596"/>
          </a:xfrm>
          <a:prstGeom prst="rect">
            <a:avLst/>
          </a:prstGeom>
          <a:solidFill>
            <a:srgbClr val="2F6755"/>
          </a:solidFill>
          <a:ln/>
        </p:spPr>
      </p:sp>
      <p:sp>
        <p:nvSpPr>
          <p:cNvPr id="17" name="Shape 11"/>
          <p:cNvSpPr/>
          <p:nvPr/>
        </p:nvSpPr>
        <p:spPr>
          <a:xfrm>
            <a:off x="457189" y="3972322"/>
            <a:ext cx="5638659" cy="12700"/>
          </a:xfrm>
          <a:prstGeom prst="rect">
            <a:avLst/>
          </a:prstGeom>
          <a:solidFill>
            <a:srgbClr val="2F6755"/>
          </a:solidFill>
          <a:ln/>
        </p:spPr>
      </p:sp>
      <p:sp>
        <p:nvSpPr>
          <p:cNvPr id="18" name="Shape 12"/>
          <p:cNvSpPr/>
          <p:nvPr/>
        </p:nvSpPr>
        <p:spPr>
          <a:xfrm>
            <a:off x="6089498" y="3978672"/>
            <a:ext cx="12700" cy="2379166"/>
          </a:xfrm>
          <a:prstGeom prst="rect">
            <a:avLst/>
          </a:prstGeom>
          <a:solidFill>
            <a:srgbClr val="2F6755"/>
          </a:solidFill>
          <a:ln/>
        </p:spPr>
      </p:sp>
      <p:sp>
        <p:nvSpPr>
          <p:cNvPr id="19" name="Shape 13"/>
          <p:cNvSpPr/>
          <p:nvPr/>
        </p:nvSpPr>
        <p:spPr>
          <a:xfrm>
            <a:off x="6095848" y="3972322"/>
            <a:ext cx="5638659" cy="12700"/>
          </a:xfrm>
          <a:prstGeom prst="rect">
            <a:avLst/>
          </a:prstGeom>
          <a:solidFill>
            <a:srgbClr val="2F6755"/>
          </a:solidFill>
          <a:ln/>
        </p:spPr>
      </p:sp>
      <p:sp>
        <p:nvSpPr>
          <p:cNvPr id="20" name="Text 14"/>
          <p:cNvSpPr/>
          <p:nvPr/>
        </p:nvSpPr>
        <p:spPr>
          <a:xfrm>
            <a:off x="11549766" y="6526510"/>
            <a:ext cx="64192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COHORT SHAPE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51185"/>
            <a:ext cx="1127731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66" kern="100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Most customers never progress beyond browsing</a:t>
            </a:r>
            <a:endParaRPr lang="en-US" sz="4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2121396"/>
          <a:ext cx="6583496" cy="914400"/>
        </p:xfrm>
        <a:graphic>
          <a:graphicData uri="http://schemas.openxmlformats.org/drawingml/2006/table">
            <a:tbl>
              <a:tblPr/>
              <a:tblGrid>
                <a:gridCol w="3423358"/>
                <a:gridCol w="1843339"/>
                <a:gridCol w="1316798"/>
              </a:tblGrid>
              <a:tr h="5040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Step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Count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%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40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3EEE7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All customers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3EEE7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35,000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3EEE7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100%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40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3EEE7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At least 1 view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3EEE7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34,913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3EEE7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99.8%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040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3EEE7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At least 1 cart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3EEE7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928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3EEE7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2.7%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913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3EEE7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At least 1 buy (before cutoff)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3EEE7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283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3EEE7"/>
                          </a:solidFill>
                          <a:latin typeface="Schibsted Grotesk" pitchFamily="34" charset="0"/>
                          <a:ea typeface="Schibsted Grotesk" pitchFamily="34" charset="-122"/>
                          <a:cs typeface="Schibsted Grotesk" pitchFamily="34" charset="-120"/>
                        </a:rPr>
                        <a:t>0.8%</a:t>
                      </a:r>
                      <a:endParaRPr lang="en-US" sz="1800" dirty="0">
                        <a:latin typeface="Schibsted Grotesk" charset="0"/>
                        <a:ea typeface="Schibsted Grotesk" charset="0"/>
                        <a:cs typeface="Schibsted Grotesk" charset="0"/>
                      </a:endParaRPr>
                    </a:p>
                  </a:txBody>
                  <a:tcPr marL="171446" marR="171446" marT="91438" marB="914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189" y="2612715"/>
            <a:ext cx="6583495" cy="12700"/>
          </a:xfrm>
          <a:prstGeom prst="rect">
            <a:avLst/>
          </a:prstGeom>
          <a:solidFill>
            <a:srgbClr val="2F6755"/>
          </a:solidFill>
          <a:ln/>
        </p:spPr>
      </p:sp>
      <p:sp>
        <p:nvSpPr>
          <p:cNvPr id="6" name="Shape 3"/>
          <p:cNvSpPr/>
          <p:nvPr/>
        </p:nvSpPr>
        <p:spPr>
          <a:xfrm>
            <a:off x="457189" y="3116734"/>
            <a:ext cx="6583495" cy="12700"/>
          </a:xfrm>
          <a:prstGeom prst="rect">
            <a:avLst/>
          </a:prstGeom>
          <a:solidFill>
            <a:srgbClr val="2F6755"/>
          </a:solidFill>
          <a:ln/>
        </p:spPr>
      </p:sp>
      <p:sp>
        <p:nvSpPr>
          <p:cNvPr id="7" name="Shape 4"/>
          <p:cNvSpPr/>
          <p:nvPr/>
        </p:nvSpPr>
        <p:spPr>
          <a:xfrm>
            <a:off x="457189" y="3620752"/>
            <a:ext cx="6583495" cy="12700"/>
          </a:xfrm>
          <a:prstGeom prst="rect">
            <a:avLst/>
          </a:prstGeom>
          <a:solidFill>
            <a:srgbClr val="2F6755"/>
          </a:solidFill>
          <a:ln/>
        </p:spPr>
      </p:sp>
      <p:sp>
        <p:nvSpPr>
          <p:cNvPr id="8" name="Shape 5"/>
          <p:cNvSpPr/>
          <p:nvPr/>
        </p:nvSpPr>
        <p:spPr>
          <a:xfrm>
            <a:off x="457189" y="4124771"/>
            <a:ext cx="6583495" cy="12700"/>
          </a:xfrm>
          <a:prstGeom prst="rect">
            <a:avLst/>
          </a:prstGeom>
          <a:solidFill>
            <a:srgbClr val="2F6755"/>
          </a:solidFill>
          <a:ln/>
        </p:spPr>
      </p:sp>
      <p:sp>
        <p:nvSpPr>
          <p:cNvPr id="9" name="Text 6"/>
          <p:cNvSpPr/>
          <p:nvPr/>
        </p:nvSpPr>
        <p:spPr>
          <a:xfrm>
            <a:off x="7345377" y="2635647"/>
            <a:ext cx="4389129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spc="-144" kern="100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85.7%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7345377" y="3806031"/>
            <a:ext cx="438912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of customers are marked Inactive stage.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547285" y="6526510"/>
            <a:ext cx="6444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RESEARCH QUESTIONS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51185"/>
            <a:ext cx="1127731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66" kern="100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Four questions define the evaluation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189" y="1534716"/>
            <a:ext cx="5486263" cy="2092821"/>
          </a:xfrm>
          <a:prstGeom prst="roundRect">
            <a:avLst>
              <a:gd name="adj" fmla="val 5826"/>
            </a:avLst>
          </a:prstGeom>
          <a:solidFill>
            <a:srgbClr val="F7FAF4"/>
          </a:solidFill>
          <a:ln/>
        </p:spPr>
      </p:sp>
      <p:sp>
        <p:nvSpPr>
          <p:cNvPr id="5" name="Shape 3"/>
          <p:cNvSpPr/>
          <p:nvPr/>
        </p:nvSpPr>
        <p:spPr>
          <a:xfrm>
            <a:off x="685783" y="1763316"/>
            <a:ext cx="400040" cy="400050"/>
          </a:xfrm>
          <a:prstGeom prst="ellipse">
            <a:avLst/>
          </a:prstGeom>
          <a:solidFill>
            <a:srgbClr val="C5E35A"/>
          </a:solidFill>
          <a:ln/>
        </p:spPr>
      </p:sp>
      <p:sp>
        <p:nvSpPr>
          <p:cNvPr id="6" name="Text 4"/>
          <p:cNvSpPr/>
          <p:nvPr/>
        </p:nvSpPr>
        <p:spPr>
          <a:xfrm>
            <a:off x="770315" y="1849041"/>
            <a:ext cx="8405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783" y="2242741"/>
            <a:ext cx="502907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Which model?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783" y="2781796"/>
            <a:ext cx="502907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Q1: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Which model best predicts the next event: view, cart, or buy?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48244" y="1534716"/>
            <a:ext cx="5486263" cy="2092821"/>
          </a:xfrm>
          <a:prstGeom prst="roundRect">
            <a:avLst>
              <a:gd name="adj" fmla="val 5826"/>
            </a:avLst>
          </a:prstGeom>
          <a:solidFill>
            <a:srgbClr val="F7FAF4"/>
          </a:solidFill>
          <a:ln/>
        </p:spPr>
      </p:sp>
      <p:sp>
        <p:nvSpPr>
          <p:cNvPr id="10" name="Shape 8"/>
          <p:cNvSpPr/>
          <p:nvPr/>
        </p:nvSpPr>
        <p:spPr>
          <a:xfrm>
            <a:off x="6476838" y="1763316"/>
            <a:ext cx="400040" cy="400050"/>
          </a:xfrm>
          <a:prstGeom prst="ellipse">
            <a:avLst/>
          </a:prstGeom>
          <a:solidFill>
            <a:srgbClr val="C5E35A"/>
          </a:solidFill>
          <a:ln/>
        </p:spPr>
      </p:sp>
      <p:sp>
        <p:nvSpPr>
          <p:cNvPr id="11" name="Text 9"/>
          <p:cNvSpPr/>
          <p:nvPr/>
        </p:nvSpPr>
        <p:spPr>
          <a:xfrm>
            <a:off x="6538550" y="1849041"/>
            <a:ext cx="886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76838" y="2242741"/>
            <a:ext cx="502907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Do groups separate?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76838" y="2781796"/>
            <a:ext cx="525766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Q2: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Do customer clusters separate well?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189" y="3932337"/>
            <a:ext cx="5486263" cy="2092821"/>
          </a:xfrm>
          <a:prstGeom prst="roundRect">
            <a:avLst>
              <a:gd name="adj" fmla="val 5826"/>
            </a:avLst>
          </a:prstGeom>
          <a:solidFill>
            <a:srgbClr val="F7FAF4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783" y="4160937"/>
            <a:ext cx="400040" cy="400050"/>
          </a:xfrm>
          <a:prstGeom prst="ellipse">
            <a:avLst/>
          </a:prstGeom>
          <a:solidFill>
            <a:srgbClr val="C5E35A"/>
          </a:solidFill>
          <a:ln/>
        </p:spPr>
      </p:sp>
      <p:sp>
        <p:nvSpPr>
          <p:cNvPr id="16" name="Text 14"/>
          <p:cNvSpPr/>
          <p:nvPr/>
        </p:nvSpPr>
        <p:spPr>
          <a:xfrm>
            <a:off x="746305" y="4246662"/>
            <a:ext cx="88848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783" y="4640362"/>
            <a:ext cx="502907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Who will buy?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5783" y="5179417"/>
            <a:ext cx="502907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Q3: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Who will buy after the cutoff using static versus journey features?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48244" y="3932337"/>
            <a:ext cx="5486263" cy="2092821"/>
          </a:xfrm>
          <a:prstGeom prst="roundRect">
            <a:avLst>
              <a:gd name="adj" fmla="val 5826"/>
            </a:avLst>
          </a:prstGeom>
          <a:solidFill>
            <a:srgbClr val="F7FAF4"/>
          </a:solidFill>
          <a:ln/>
        </p:spPr>
      </p:sp>
      <p:sp>
        <p:nvSpPr>
          <p:cNvPr id="20" name="Shape 18"/>
          <p:cNvSpPr/>
          <p:nvPr/>
        </p:nvSpPr>
        <p:spPr>
          <a:xfrm>
            <a:off x="6476838" y="4160937"/>
            <a:ext cx="400040" cy="400050"/>
          </a:xfrm>
          <a:prstGeom prst="ellipse">
            <a:avLst/>
          </a:prstGeom>
          <a:solidFill>
            <a:srgbClr val="C5E35A"/>
          </a:solidFill>
          <a:ln/>
        </p:spPr>
      </p:sp>
      <p:sp>
        <p:nvSpPr>
          <p:cNvPr id="21" name="Text 19"/>
          <p:cNvSpPr/>
          <p:nvPr/>
        </p:nvSpPr>
        <p:spPr>
          <a:xfrm>
            <a:off x="6535376" y="4246662"/>
            <a:ext cx="8924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 SemiBold" pitchFamily="34" charset="0"/>
                <a:ea typeface="Schibsted Grotesk SemiBold" pitchFamily="34" charset="-122"/>
                <a:cs typeface="Schibsted Grotesk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76838" y="4640362"/>
            <a:ext cx="502907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Which action works?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76838" y="5179417"/>
            <a:ext cx="502907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Q4: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Which marketing strategy works best in offline simulation?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564847" y="6526510"/>
            <a:ext cx="62684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33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spc="8" kern="100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RESULTS FROM THE TRAINING RUN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189" y="621308"/>
            <a:ext cx="11277318" cy="364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750" spc="-41" kern="100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Complete results summary</a:t>
            </a:r>
            <a:endParaRPr lang="en-US" sz="2750" dirty="0"/>
          </a:p>
        </p:txBody>
      </p:sp>
      <p:sp>
        <p:nvSpPr>
          <p:cNvPr id="4" name="Text 2"/>
          <p:cNvSpPr/>
          <p:nvPr/>
        </p:nvSpPr>
        <p:spPr>
          <a:xfrm>
            <a:off x="457189" y="1062236"/>
            <a:ext cx="11734506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95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Test metrics from the run; champions are highlighted below.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189" y="1264841"/>
            <a:ext cx="11734506" cy="143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spc="9" kern="100" dirty="0">
                <a:solidFill>
                  <a:srgbClr val="A8C4B7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SETUP · Cohort 35,000 · Train 24,500 · Val 3,500 · Test 7,000 · Q1 test users 382 · Buy-after-cutoff rate 0.07%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189" y="1477169"/>
            <a:ext cx="5562461" cy="2302570"/>
          </a:xfrm>
          <a:prstGeom prst="roundRect">
            <a:avLst>
              <a:gd name="adj" fmla="val 5295"/>
            </a:avLst>
          </a:prstGeom>
          <a:solidFill>
            <a:srgbClr val="F7FAF4"/>
          </a:solidFill>
          <a:ln/>
        </p:spPr>
      </p:sp>
      <p:sp>
        <p:nvSpPr>
          <p:cNvPr id="7" name="Text 5"/>
          <p:cNvSpPr/>
          <p:nvPr/>
        </p:nvSpPr>
        <p:spPr>
          <a:xfrm>
            <a:off x="533387" y="1553369"/>
            <a:ext cx="5410065" cy="133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Table A — Q1: Next event prediction (train 326 / test 382)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87" y="1741984"/>
          <a:ext cx="5410065" cy="914400"/>
        </p:xfrm>
        <a:graphic>
          <a:graphicData uri="http://schemas.openxmlformats.org/drawingml/2006/table">
            <a:tbl>
              <a:tblPr/>
              <a:tblGrid>
                <a:gridCol w="1298344"/>
                <a:gridCol w="811490"/>
                <a:gridCol w="811490"/>
                <a:gridCol w="811490"/>
                <a:gridCol w="811490"/>
                <a:gridCol w="865761"/>
              </a:tblGrid>
              <a:tr h="256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Model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Accuracy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Precision (macro)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Recall (macro)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F1 (macro)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Top-2 acc.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131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Markov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0.9869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0.3298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0.3325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0.3311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1.0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256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Logistic Regression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0.9843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0.3298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0.3316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0.3307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0.9843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131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Random Forest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0.9843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0.3298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0.3316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0.3307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0.9843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131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XGBoost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0.9895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0.3298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0.3333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0.3316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0.9895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125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GRU ★ BEST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0.9921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0.664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0.4167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0.4653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1.0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35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172046" y="1477169"/>
            <a:ext cx="5562461" cy="2302570"/>
          </a:xfrm>
          <a:prstGeom prst="roundRect">
            <a:avLst>
              <a:gd name="adj" fmla="val 5295"/>
            </a:avLst>
          </a:prstGeom>
          <a:solidFill>
            <a:srgbClr val="F7FAF4"/>
          </a:solidFill>
          <a:ln/>
        </p:spPr>
      </p:sp>
      <p:sp>
        <p:nvSpPr>
          <p:cNvPr id="10" name="Text 7"/>
          <p:cNvSpPr/>
          <p:nvPr/>
        </p:nvSpPr>
        <p:spPr>
          <a:xfrm>
            <a:off x="6248244" y="1553369"/>
            <a:ext cx="5410065" cy="133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Table D — Q4: Marketing strategies (simulation, test 7,000)</a:t>
            </a:r>
            <a:endParaRPr lang="en-US" sz="8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1741984"/>
          <a:ext cx="5410065" cy="914400"/>
        </p:xfrm>
        <a:graphic>
          <a:graphicData uri="http://schemas.openxmlformats.org/drawingml/2006/table">
            <a:tbl>
              <a:tblPr/>
              <a:tblGrid>
                <a:gridCol w="2055761"/>
                <a:gridCol w="1081953"/>
                <a:gridCol w="1081953"/>
                <a:gridCol w="1190397"/>
              </a:tblGrid>
              <a:tr h="256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Strategy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Prectarget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Coverage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Unnecessary actions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131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Wait + Stop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0.0026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1.0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71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131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Generic ★ WINNER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0.0026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1.0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35A"/>
                    </a:solidFill>
                  </a:tcPr>
                </a:tc>
              </a:tr>
              <a:tr h="131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Segment-based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0.0026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1.0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285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125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Journey + rules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0.0023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0.3333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149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248244" y="2562225"/>
            <a:ext cx="5486263" cy="7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Journey + rules produced 4,391 wait/stop outcomes; generic email-all wins hit rate in this simulation.</a:t>
            </a:r>
            <a:endParaRPr lang="en-US" sz="550" dirty="0"/>
          </a:p>
        </p:txBody>
      </p:sp>
      <p:sp>
        <p:nvSpPr>
          <p:cNvPr id="13" name="Shape 9"/>
          <p:cNvSpPr/>
          <p:nvPr/>
        </p:nvSpPr>
        <p:spPr>
          <a:xfrm>
            <a:off x="457189" y="3932138"/>
            <a:ext cx="5562461" cy="2302570"/>
          </a:xfrm>
          <a:prstGeom prst="roundRect">
            <a:avLst>
              <a:gd name="adj" fmla="val 5295"/>
            </a:avLst>
          </a:prstGeom>
          <a:solidFill>
            <a:srgbClr val="F7FAF4"/>
          </a:solidFill>
          <a:ln/>
        </p:spPr>
      </p:sp>
      <p:sp>
        <p:nvSpPr>
          <p:cNvPr id="14" name="Text 10"/>
          <p:cNvSpPr/>
          <p:nvPr/>
        </p:nvSpPr>
        <p:spPr>
          <a:xfrm>
            <a:off x="533387" y="4008338"/>
            <a:ext cx="5410065" cy="133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Table B — Q2: Segmentation</a:t>
            </a:r>
            <a:endParaRPr lang="en-US" sz="8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87" y="4196953"/>
          <a:ext cx="2628834" cy="914400"/>
        </p:xfrm>
        <a:graphic>
          <a:graphicData uri="http://schemas.openxmlformats.org/drawingml/2006/table">
            <a:tbl>
              <a:tblPr/>
              <a:tblGrid>
                <a:gridCol w="1261833"/>
                <a:gridCol w="1367002"/>
              </a:tblGrid>
              <a:tr h="131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Method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Score / detail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131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K-Means K=3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Silhouette 0.5531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256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K-Means K=4 ★ BEST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Silhouette 0.5606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35A"/>
                    </a:solidFill>
                  </a:tcPr>
                </a:tc>
              </a:tr>
              <a:tr h="131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K-Means K=5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Silhouette 0.5537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131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K-Means K=6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Silhouette 0.5215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131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K-Means K=7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Silhouette 0.5099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131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K-Means K=8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Silhouette 0.5120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125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RFM K-Means (K=4)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Silhouette 0.5528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</a:tbl>
          </a:graphicData>
        </a:graphic>
      </p:graphicFrame>
      <p:sp>
        <p:nvSpPr>
          <p:cNvPr id="16" name="Text 11"/>
          <p:cNvSpPr/>
          <p:nvPr/>
        </p:nvSpPr>
        <p:spPr>
          <a:xfrm>
            <a:off x="3314617" y="4196953"/>
            <a:ext cx="2628834" cy="112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Rule-based segments</a:t>
            </a:r>
            <a:endParaRPr lang="en-US" sz="700" dirty="0"/>
          </a:p>
        </p:txBody>
      </p:sp>
      <p:graphicFrame>
        <p:nvGraphicFramePr>
          <p:cNvPr id="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14617" y="4365030"/>
          <a:ext cx="2628834" cy="914400"/>
        </p:xfrm>
        <a:graphic>
          <a:graphicData uri="http://schemas.openxmlformats.org/drawingml/2006/table">
            <a:tbl>
              <a:tblPr/>
              <a:tblGrid>
                <a:gridCol w="1840164"/>
                <a:gridCol w="788670"/>
              </a:tblGrid>
              <a:tr h="131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Segment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Count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131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At-Risk / Inactive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23894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131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Recent Browsers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10058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131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Cart Abandoners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672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1314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Champions &amp; High Value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283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125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High Intent Cohort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93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</a:tbl>
          </a:graphicData>
        </a:graphic>
      </p:graphicFrame>
      <p:sp>
        <p:nvSpPr>
          <p:cNvPr id="18" name="Shape 12"/>
          <p:cNvSpPr/>
          <p:nvPr/>
        </p:nvSpPr>
        <p:spPr>
          <a:xfrm>
            <a:off x="6172046" y="3932138"/>
            <a:ext cx="5562461" cy="2302570"/>
          </a:xfrm>
          <a:prstGeom prst="roundRect">
            <a:avLst>
              <a:gd name="adj" fmla="val 5295"/>
            </a:avLst>
          </a:prstGeom>
          <a:solidFill>
            <a:srgbClr val="F7FAF4"/>
          </a:solidFill>
          <a:ln/>
        </p:spPr>
      </p:sp>
      <p:sp>
        <p:nvSpPr>
          <p:cNvPr id="19" name="Text 13"/>
          <p:cNvSpPr/>
          <p:nvPr/>
        </p:nvSpPr>
        <p:spPr>
          <a:xfrm>
            <a:off x="6248244" y="4008338"/>
            <a:ext cx="5410065" cy="133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Table C — Q3: Will they buy after cutoff? (test n=7,000)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6248244" y="4196953"/>
            <a:ext cx="2628834" cy="143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spc="9" kern="100" dirty="0">
                <a:solidFill>
                  <a:srgbClr val="000000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Static features</a:t>
            </a:r>
            <a:endParaRPr lang="en-US" sz="850" dirty="0"/>
          </a:p>
        </p:txBody>
      </p:sp>
      <p:graphicFrame>
        <p:nvGraphicFramePr>
          <p:cNvPr id="4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4384774"/>
          <a:ext cx="2628834" cy="914400"/>
        </p:xfrm>
        <a:graphic>
          <a:graphicData uri="http://schemas.openxmlformats.org/drawingml/2006/table">
            <a:tbl>
              <a:tblPr/>
              <a:tblGrid>
                <a:gridCol w="998909"/>
                <a:gridCol w="1629925"/>
              </a:tblGrid>
              <a:tr h="3816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Model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Accuracy / Precision / Recall / F1 / ROC-AUC / PR-AUC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3816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Logistic Regression ★ BEST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3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0.8164 / 0.0055 / 0.3889 / 0.0108 / 0.5677 / 0.1483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35A"/>
                    </a:solidFill>
                  </a:tcPr>
                </a:tc>
              </a:tr>
              <a:tr h="256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Random Forest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0.9973 / 0.0 / 0.0 / 0.0 / 0.6331 / 0.0148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256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XGBoost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0.9974 / 0.0 / 0.0 / 0.0 / 0.7473 / 0.0528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3753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GRU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0.3077 / 0.0008 / 0.2222 / 0.0016 / 0.1598 / 0.0017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</a:tbl>
          </a:graphicData>
        </a:graphic>
      </p:graphicFrame>
      <p:sp>
        <p:nvSpPr>
          <p:cNvPr id="22" name="Text 15"/>
          <p:cNvSpPr/>
          <p:nvPr/>
        </p:nvSpPr>
        <p:spPr>
          <a:xfrm>
            <a:off x="9029474" y="4196953"/>
            <a:ext cx="2628834" cy="143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spc="9" kern="100" dirty="0">
                <a:solidFill>
                  <a:srgbClr val="000000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Journey-aware features</a:t>
            </a:r>
            <a:endParaRPr lang="en-US" sz="850" dirty="0"/>
          </a:p>
        </p:txBody>
      </p:sp>
      <p:graphicFrame>
        <p:nvGraphicFramePr>
          <p:cNvPr id="4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29474" y="4384774"/>
          <a:ext cx="2628834" cy="914400"/>
        </p:xfrm>
        <a:graphic>
          <a:graphicData uri="http://schemas.openxmlformats.org/drawingml/2006/table">
            <a:tbl>
              <a:tblPr/>
              <a:tblGrid>
                <a:gridCol w="998909"/>
                <a:gridCol w="1629925"/>
              </a:tblGrid>
              <a:tr h="3816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Model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Accuracy / Precision / Recall / F1 / ROC-AUC / PR-AUC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3816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Logistic Regression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0.5274 / 0.003 / 0.5556 / 0.006 / 0.6274 / 0.105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256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Random Forest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0.9961 / 0.0 / 0.0 / 0.0 / 0.7408 / 0.0407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2565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XGBoost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0.9961 / 0.0 / 0.0 / 0.0 / 0.7269 / 0.0322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  <a:tr h="25022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GRU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Fira Mono" pitchFamily="34" charset="0"/>
                          <a:ea typeface="Fira Mono" pitchFamily="34" charset="-122"/>
                          <a:cs typeface="Fira Mono" pitchFamily="34" charset="-120"/>
                        </a:rPr>
                        <a:t>0.9969 / 0.0 / 0.0 / 0.0 / 0.3674 / 0.0024</a:t>
                      </a:r>
                      <a:endParaRPr lang="en-US" sz="900" dirty="0">
                        <a:latin typeface="Fira Mono" charset="0"/>
                        <a:ea typeface="Fira Mono" charset="0"/>
                        <a:cs typeface="Fira Mono" charset="0"/>
                      </a:endParaRPr>
                    </a:p>
                  </a:txBody>
                  <a:tcPr marL="25399" marR="25399" marT="36576" marB="36576" anchor="ctr">
                    <a:lnL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4"/>
                    </a:solidFill>
                  </a:tcPr>
                </a:tc>
              </a:tr>
            </a:tbl>
          </a:graphicData>
        </a:graphic>
      </p:graphicFrame>
      <p:sp>
        <p:nvSpPr>
          <p:cNvPr id="24" name="Text 16"/>
          <p:cNvSpPr/>
          <p:nvPr/>
        </p:nvSpPr>
        <p:spPr>
          <a:xfrm>
            <a:off x="6248244" y="6080820"/>
            <a:ext cx="5486263" cy="7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★ Best on test by PR-AUC: Static Logistic Regression. SHAP top drivers for the journey model: stage_code 2.73, total_events 0.13, recency_days 0.03.</a:t>
            </a:r>
            <a:endParaRPr lang="en-US" sz="550" dirty="0"/>
          </a:p>
        </p:txBody>
      </p:sp>
      <p:sp>
        <p:nvSpPr>
          <p:cNvPr id="25" name="Text 17"/>
          <p:cNvSpPr/>
          <p:nvPr/>
        </p:nvSpPr>
        <p:spPr>
          <a:xfrm>
            <a:off x="457189" y="6303367"/>
            <a:ext cx="11277318" cy="499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850" spc="9" kern="100" dirty="0">
                <a:solidFill>
                  <a:srgbClr val="A8C4B7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CHAMPIONS · Next event — GRU (F1 0.465) · Customer groups — K-Means K=4 (silhouette 0.561) · Purchase chance — Static Logistic Regression (PR-AUC 0.148) · Strategy simulation — Generic email all (Prectarget 0.0026)</a:t>
            </a:r>
            <a:endParaRPr lang="en-US" sz="8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50" spc="9" kern="100" dirty="0">
                <a:solidFill>
                  <a:srgbClr val="A8C4B7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Precision around 0.33 in Q1 is macro-average across three event types, not buy precision.</a:t>
            </a:r>
            <a:endParaRPr lang="en-US" sz="850" dirty="0"/>
          </a:p>
        </p:txBody>
      </p:sp>
      <p:sp>
        <p:nvSpPr>
          <p:cNvPr id="26" name="Text 18"/>
          <p:cNvSpPr/>
          <p:nvPr/>
        </p:nvSpPr>
        <p:spPr>
          <a:xfrm>
            <a:off x="11549766" y="6526510"/>
            <a:ext cx="64192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HOW TO READ THE RUN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51185"/>
            <a:ext cx="11277318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spc="-54" kern="100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Accuracy is not the answer when the positive class is rare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189" y="1963638"/>
            <a:ext cx="2819329" cy="50701"/>
          </a:xfrm>
          <a:prstGeom prst="roundRect">
            <a:avLst>
              <a:gd name="adj" fmla="val 49999"/>
            </a:avLst>
          </a:prstGeom>
          <a:solidFill>
            <a:srgbClr val="C5E35A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2247801"/>
            <a:ext cx="1173450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The right metric changes with the question.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189" y="2734171"/>
            <a:ext cx="5562461" cy="1613396"/>
          </a:xfrm>
          <a:prstGeom prst="roundRect">
            <a:avLst>
              <a:gd name="adj" fmla="val 7557"/>
            </a:avLst>
          </a:prstGeom>
          <a:solidFill>
            <a:srgbClr val="F7FAF4"/>
          </a:solidFill>
          <a:ln/>
        </p:spPr>
      </p:sp>
      <p:sp>
        <p:nvSpPr>
          <p:cNvPr id="7" name="Text 5"/>
          <p:cNvSpPr/>
          <p:nvPr/>
        </p:nvSpPr>
        <p:spPr>
          <a:xfrm>
            <a:off x="685783" y="2962771"/>
            <a:ext cx="510527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Q1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783" y="3501827"/>
            <a:ext cx="533386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Trust F1, not accuracy; </a:t>
            </a:r>
            <a:pPr algn="l" indent="0" marL="0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GRU wins.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72046" y="2734171"/>
            <a:ext cx="5562461" cy="1613396"/>
          </a:xfrm>
          <a:prstGeom prst="roundRect">
            <a:avLst>
              <a:gd name="adj" fmla="val 7557"/>
            </a:avLst>
          </a:prstGeom>
          <a:solidFill>
            <a:srgbClr val="F7FAF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640" y="2962771"/>
            <a:ext cx="510527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Q3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640" y="3501827"/>
            <a:ext cx="510527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Trust PR-AUC; with buys at 0.07%, 99% accuracy can still be useless.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189" y="4499967"/>
            <a:ext cx="5562461" cy="1613396"/>
          </a:xfrm>
          <a:prstGeom prst="roundRect">
            <a:avLst>
              <a:gd name="adj" fmla="val 7557"/>
            </a:avLst>
          </a:prstGeom>
          <a:solidFill>
            <a:srgbClr val="F7FAF4"/>
          </a:solidFill>
          <a:ln/>
        </p:spPr>
      </p:sp>
      <p:sp>
        <p:nvSpPr>
          <p:cNvPr id="13" name="Text 11"/>
          <p:cNvSpPr/>
          <p:nvPr/>
        </p:nvSpPr>
        <p:spPr>
          <a:xfrm>
            <a:off x="685783" y="4728567"/>
            <a:ext cx="510527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Q4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5783" y="5267623"/>
            <a:ext cx="510527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Email-all wins hit rate here, while journey rules reduce 4,391 wait/stop outcomes.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72046" y="4499967"/>
            <a:ext cx="5562461" cy="1613396"/>
          </a:xfrm>
          <a:prstGeom prst="roundRect">
            <a:avLst>
              <a:gd name="adj" fmla="val 7557"/>
            </a:avLst>
          </a:prstGeom>
          <a:solidFill>
            <a:srgbClr val="F7FAF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640" y="4728567"/>
            <a:ext cx="5105272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Demo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640" y="5267623"/>
            <a:ext cx="510527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Models and Research pages in the app; regenerate with 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7FAF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ml/train_models.py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547285" y="6526510"/>
            <a:ext cx="6444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9248"/>
            <a:ext cx="697470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spc="13" kern="100" dirty="0">
                <a:solidFill>
                  <a:srgbClr val="C5E35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NEXT TEST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83233"/>
            <a:ext cx="6517517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spc="-66" kern="100" dirty="0">
                <a:solidFill>
                  <a:srgbClr val="FFFFFF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The platform is ready for a bigger, more realistic test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189" y="2795687"/>
            <a:ext cx="1629230" cy="50701"/>
          </a:xfrm>
          <a:prstGeom prst="roundRect">
            <a:avLst>
              <a:gd name="adj" fmla="val 49999"/>
            </a:avLst>
          </a:prstGeom>
          <a:solidFill>
            <a:srgbClr val="C5E35A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3079849"/>
            <a:ext cx="6517517" cy="3288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Built a full journey intelligence platform on 2.76M clean events.</a:t>
            </a:r>
            <a:endParaRPr lang="en-US" sz="1800" dirty="0"/>
          </a:p>
          <a:p>
            <a:pPr algn="l" marL="365760" indent="-365760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Used a time-based split with no peeking at the future.</a:t>
            </a:r>
            <a:endParaRPr lang="en-US" sz="1800" dirty="0"/>
          </a:p>
          <a:p>
            <a:pPr algn="l" marL="365760" indent="-365760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Clear winners emerged for next-event prediction, segmentation, purchase chance, and the strategy simulation.</a:t>
            </a:r>
            <a:endParaRPr lang="en-US" sz="1800" dirty="0"/>
          </a:p>
          <a:p>
            <a:pPr algn="l" marL="365760" indent="-365760">
              <a:lnSpc>
                <a:spcPct val="113000"/>
              </a:lnSpc>
              <a:buSzPct val="100000"/>
              <a:buChar char="•"/>
            </a:pPr>
            <a:r>
              <a:rPr lang="en-US" sz="1800" b="1" dirty="0">
                <a:solidFill>
                  <a:srgbClr val="E3EEE7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Limits:</a:t>
            </a:r>
            <a:pPr algn="l" marL="365760" indent="-365760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small future-buy count, offline simulation rather than a live A/B test, and a 35k-customer cap.</a:t>
            </a:r>
            <a:endParaRPr lang="en-US" sz="1800" dirty="0"/>
          </a:p>
          <a:p>
            <a:pPr algn="l" marL="365760" indent="-365760">
              <a:lnSpc>
                <a:spcPct val="113000"/>
              </a:lnSpc>
              <a:buSzPct val="100000"/>
              <a:buChar char="•"/>
            </a:pPr>
            <a:r>
              <a:rPr lang="en-US" sz="1800" b="1" dirty="0">
                <a:solidFill>
                  <a:srgbClr val="E3EEE7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Next:</a:t>
            </a:r>
            <a:pPr algn="l" marL="365760" indent="-365760">
              <a:lnSpc>
                <a:spcPct val="113000"/>
              </a:lnSpc>
              <a:buSzPct val="100000"/>
              <a:buChar char="•"/>
            </a:pPr>
            <a:r>
              <a:rPr lang="en-US" sz="18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run on more data, tune thresholds, and test in a real store.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88983" y="0"/>
            <a:ext cx="4302712" cy="6858000"/>
          </a:xfrm>
          <a:prstGeom prst="roundRect">
            <a:avLst>
              <a:gd name="adj" fmla="val 2833"/>
            </a:avLst>
          </a:prstGeom>
          <a:solidFill>
            <a:srgbClr val="F7FAF4"/>
          </a:solidFill>
          <a:ln/>
        </p:spPr>
      </p:sp>
      <p:sp>
        <p:nvSpPr>
          <p:cNvPr id="7" name="Text 5"/>
          <p:cNvSpPr/>
          <p:nvPr/>
        </p:nvSpPr>
        <p:spPr>
          <a:xfrm>
            <a:off x="8244574" y="2437507"/>
            <a:ext cx="359153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04" kern="100" dirty="0">
                <a:solidFill>
                  <a:srgbClr val="000000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2.76M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244574" y="3294757"/>
            <a:ext cx="3947121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000000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clean events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44574" y="3759200"/>
            <a:ext cx="897709" cy="50701"/>
          </a:xfrm>
          <a:prstGeom prst="roundRect">
            <a:avLst>
              <a:gd name="adj" fmla="val 49999"/>
            </a:avLst>
          </a:prstGeom>
          <a:solidFill>
            <a:srgbClr val="0F3B2E"/>
          </a:solidFill>
          <a:ln/>
        </p:spPr>
      </p:sp>
      <p:sp>
        <p:nvSpPr>
          <p:cNvPr id="10" name="Text 8"/>
          <p:cNvSpPr/>
          <p:nvPr/>
        </p:nvSpPr>
        <p:spPr>
          <a:xfrm>
            <a:off x="8244574" y="4043363"/>
            <a:ext cx="3947121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Thank you — Questions?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588956" y="6526510"/>
            <a:ext cx="60273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2026-10-05T17:14:00Z</dcterms:created>
  <dcterms:modified xsi:type="dcterms:W3CDTF">2026-10-05T17:14:00Z</dcterms:modified>
</cp:coreProperties>
</file>